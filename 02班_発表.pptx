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7" d="100"/>
          <a:sy n="137" d="100"/>
        </p:scale>
        <p:origin x="786"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79a1533a4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79a1533a4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eed5c9685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eed5c9685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eed5c96853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eed5c96853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79a1533a46_2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79a1533a46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79a1533a46_1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79a1533a46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79a1533a46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79a1533a46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311700" y="3093900"/>
            <a:ext cx="8520600" cy="1934400"/>
          </a:xfrm>
          <a:prstGeom prst="rect">
            <a:avLst/>
          </a:prstGeom>
        </p:spPr>
        <p:txBody>
          <a:bodyPr spcFirstLastPara="1" wrap="square" lIns="91425" tIns="91425" rIns="91425" bIns="91425" anchor="b" anchorCtr="0">
            <a:normAutofit fontScale="70000" lnSpcReduction="20000"/>
          </a:bodyPr>
          <a:lstStyle/>
          <a:p>
            <a:pPr marL="0" lvl="0" indent="0" rtl="0">
              <a:spcBef>
                <a:spcPts val="0"/>
              </a:spcBef>
              <a:spcAft>
                <a:spcPts val="0"/>
              </a:spcAft>
              <a:buNone/>
            </a:pPr>
            <a:r>
              <a:rPr lang="ja-JP" altLang="en-US" dirty="0">
                <a:solidFill>
                  <a:srgbClr val="304543"/>
                </a:solidFill>
              </a:rPr>
              <a:t>　　　　　　　　　　　　　　　    </a:t>
            </a:r>
            <a:r>
              <a:rPr lang="ja" dirty="0">
                <a:solidFill>
                  <a:srgbClr val="304543"/>
                </a:solidFill>
              </a:rPr>
              <a:t>02班</a:t>
            </a:r>
            <a:endParaRPr dirty="0">
              <a:solidFill>
                <a:srgbClr val="304543"/>
              </a:solidFill>
            </a:endParaRPr>
          </a:p>
          <a:p>
            <a:pPr marL="0" lvl="0" indent="0" algn="r" rtl="0">
              <a:spcBef>
                <a:spcPts val="0"/>
              </a:spcBef>
              <a:spcAft>
                <a:spcPts val="0"/>
              </a:spcAft>
              <a:buNone/>
            </a:pPr>
            <a:r>
              <a:rPr lang="ja" dirty="0">
                <a:solidFill>
                  <a:srgbClr val="304543"/>
                </a:solidFill>
              </a:rPr>
              <a:t>AL220</a:t>
            </a:r>
            <a:r>
              <a:rPr lang="en-US" altLang="ja" dirty="0">
                <a:solidFill>
                  <a:srgbClr val="304543"/>
                </a:solidFill>
              </a:rPr>
              <a:t>XX</a:t>
            </a:r>
            <a:r>
              <a:rPr lang="ja-JP" altLang="en-US" dirty="0">
                <a:solidFill>
                  <a:srgbClr val="304543"/>
                </a:solidFill>
              </a:rPr>
              <a:t>   </a:t>
            </a:r>
            <a:r>
              <a:rPr lang="ja" dirty="0">
                <a:solidFill>
                  <a:srgbClr val="304543"/>
                </a:solidFill>
              </a:rPr>
              <a:t> </a:t>
            </a:r>
            <a:r>
              <a:rPr lang="en-US" altLang="ja" dirty="0">
                <a:solidFill>
                  <a:srgbClr val="304543"/>
                </a:solidFill>
              </a:rPr>
              <a:t>masked</a:t>
            </a:r>
            <a:endParaRPr dirty="0">
              <a:solidFill>
                <a:srgbClr val="304543"/>
              </a:solidFill>
            </a:endParaRPr>
          </a:p>
          <a:p>
            <a:pPr marL="0" lvl="0" indent="0" algn="r" rtl="0">
              <a:spcBef>
                <a:spcPts val="0"/>
              </a:spcBef>
              <a:spcAft>
                <a:spcPts val="0"/>
              </a:spcAft>
              <a:buNone/>
            </a:pPr>
            <a:r>
              <a:rPr lang="ja" dirty="0">
                <a:solidFill>
                  <a:srgbClr val="304543"/>
                </a:solidFill>
              </a:rPr>
              <a:t>AL220</a:t>
            </a:r>
            <a:r>
              <a:rPr lang="en-US" altLang="ja" dirty="0">
                <a:solidFill>
                  <a:srgbClr val="304543"/>
                </a:solidFill>
              </a:rPr>
              <a:t>XX</a:t>
            </a:r>
            <a:r>
              <a:rPr lang="ja-JP" altLang="en-US" dirty="0">
                <a:solidFill>
                  <a:srgbClr val="304543"/>
                </a:solidFill>
              </a:rPr>
              <a:t> </a:t>
            </a:r>
            <a:r>
              <a:rPr lang="ja" dirty="0">
                <a:solidFill>
                  <a:srgbClr val="304543"/>
                </a:solidFill>
              </a:rPr>
              <a:t>小島</a:t>
            </a:r>
            <a:r>
              <a:rPr lang="ja-JP" altLang="en-US" dirty="0">
                <a:solidFill>
                  <a:srgbClr val="304543"/>
                </a:solidFill>
              </a:rPr>
              <a:t> </a:t>
            </a:r>
            <a:r>
              <a:rPr lang="ja" dirty="0">
                <a:solidFill>
                  <a:srgbClr val="304543"/>
                </a:solidFill>
              </a:rPr>
              <a:t>佑太</a:t>
            </a:r>
            <a:endParaRPr dirty="0">
              <a:solidFill>
                <a:srgbClr val="304543"/>
              </a:solidFill>
            </a:endParaRPr>
          </a:p>
          <a:p>
            <a:pPr marL="0" lvl="0" indent="0" algn="r" rtl="0">
              <a:spcBef>
                <a:spcPts val="0"/>
              </a:spcBef>
              <a:spcAft>
                <a:spcPts val="0"/>
              </a:spcAft>
              <a:buNone/>
            </a:pPr>
            <a:r>
              <a:rPr lang="ja" dirty="0">
                <a:solidFill>
                  <a:srgbClr val="304543"/>
                </a:solidFill>
              </a:rPr>
              <a:t>AL220</a:t>
            </a:r>
            <a:r>
              <a:rPr lang="en-US" altLang="ja" dirty="0">
                <a:solidFill>
                  <a:srgbClr val="304543"/>
                </a:solidFill>
              </a:rPr>
              <a:t>XX</a:t>
            </a:r>
            <a:r>
              <a:rPr lang="ja" dirty="0">
                <a:solidFill>
                  <a:srgbClr val="304543"/>
                </a:solidFill>
              </a:rPr>
              <a:t> </a:t>
            </a:r>
            <a:r>
              <a:rPr lang="ja-JP" altLang="en-US" dirty="0">
                <a:solidFill>
                  <a:srgbClr val="304543"/>
                </a:solidFill>
              </a:rPr>
              <a:t>   </a:t>
            </a:r>
            <a:r>
              <a:rPr lang="en-US" altLang="ja-JP" dirty="0">
                <a:solidFill>
                  <a:srgbClr val="304543"/>
                </a:solidFill>
              </a:rPr>
              <a:t>masked</a:t>
            </a:r>
            <a:endParaRPr dirty="0">
              <a:solidFill>
                <a:srgbClr val="304543"/>
              </a:solidFill>
            </a:endParaRPr>
          </a:p>
          <a:p>
            <a:pPr marL="0" lvl="0" indent="0" algn="r" rtl="0">
              <a:spcBef>
                <a:spcPts val="0"/>
              </a:spcBef>
              <a:spcAft>
                <a:spcPts val="0"/>
              </a:spcAft>
              <a:buNone/>
            </a:pPr>
            <a:r>
              <a:rPr lang="ja" dirty="0">
                <a:solidFill>
                  <a:srgbClr val="304543"/>
                </a:solidFill>
              </a:rPr>
              <a:t>AL220</a:t>
            </a:r>
            <a:r>
              <a:rPr lang="en-US" altLang="ja" dirty="0">
                <a:solidFill>
                  <a:srgbClr val="304543"/>
                </a:solidFill>
              </a:rPr>
              <a:t>XX</a:t>
            </a:r>
            <a:r>
              <a:rPr lang="ja" dirty="0">
                <a:solidFill>
                  <a:srgbClr val="304543"/>
                </a:solidFill>
              </a:rPr>
              <a:t> </a:t>
            </a:r>
            <a:r>
              <a:rPr lang="ja-JP" altLang="en-US" dirty="0">
                <a:solidFill>
                  <a:srgbClr val="304543"/>
                </a:solidFill>
              </a:rPr>
              <a:t>   </a:t>
            </a:r>
            <a:r>
              <a:rPr lang="en-US" altLang="ja-JP" dirty="0">
                <a:solidFill>
                  <a:srgbClr val="304543"/>
                </a:solidFill>
              </a:rPr>
              <a:t>masked</a:t>
            </a:r>
            <a:endParaRPr dirty="0">
              <a:solidFill>
                <a:srgbClr val="304543"/>
              </a:solidFill>
            </a:endParaRPr>
          </a:p>
          <a:p>
            <a:pPr marL="0" lvl="0" indent="0" algn="r" rtl="0">
              <a:spcBef>
                <a:spcPts val="0"/>
              </a:spcBef>
              <a:spcAft>
                <a:spcPts val="0"/>
              </a:spcAft>
              <a:buNone/>
            </a:pPr>
            <a:r>
              <a:rPr lang="ja" dirty="0">
                <a:solidFill>
                  <a:srgbClr val="304543"/>
                </a:solidFill>
              </a:rPr>
              <a:t>AL220</a:t>
            </a:r>
            <a:r>
              <a:rPr lang="en-US" altLang="ja" dirty="0">
                <a:solidFill>
                  <a:srgbClr val="304543"/>
                </a:solidFill>
              </a:rPr>
              <a:t>XX</a:t>
            </a:r>
            <a:r>
              <a:rPr lang="ja" dirty="0">
                <a:solidFill>
                  <a:srgbClr val="304543"/>
                </a:solidFill>
              </a:rPr>
              <a:t> </a:t>
            </a:r>
            <a:r>
              <a:rPr lang="ja-JP" altLang="en-US" dirty="0">
                <a:solidFill>
                  <a:srgbClr val="304543"/>
                </a:solidFill>
              </a:rPr>
              <a:t>   </a:t>
            </a:r>
            <a:r>
              <a:rPr lang="en-US" altLang="ja-JP" dirty="0">
                <a:solidFill>
                  <a:srgbClr val="304543"/>
                </a:solidFill>
              </a:rPr>
              <a:t>masked</a:t>
            </a:r>
            <a:endParaRPr dirty="0">
              <a:solidFill>
                <a:srgbClr val="304543"/>
              </a:solidFill>
            </a:endParaRPr>
          </a:p>
          <a:p>
            <a:pPr marL="0" lvl="0" indent="0" algn="r" rtl="0">
              <a:spcBef>
                <a:spcPts val="0"/>
              </a:spcBef>
              <a:spcAft>
                <a:spcPts val="0"/>
              </a:spcAft>
              <a:buNone/>
            </a:pPr>
            <a:r>
              <a:rPr lang="ja" dirty="0">
                <a:solidFill>
                  <a:srgbClr val="304543"/>
                </a:solidFill>
              </a:rPr>
              <a:t>AL220</a:t>
            </a:r>
            <a:r>
              <a:rPr lang="en-US" altLang="ja" dirty="0">
                <a:solidFill>
                  <a:srgbClr val="304543"/>
                </a:solidFill>
              </a:rPr>
              <a:t>XX   </a:t>
            </a:r>
            <a:r>
              <a:rPr lang="ja" dirty="0">
                <a:solidFill>
                  <a:srgbClr val="304543"/>
                </a:solidFill>
              </a:rPr>
              <a:t> </a:t>
            </a:r>
            <a:r>
              <a:rPr lang="en-US" altLang="ja" dirty="0">
                <a:solidFill>
                  <a:srgbClr val="304543"/>
                </a:solidFill>
              </a:rPr>
              <a:t>masked</a:t>
            </a:r>
            <a:endParaRPr dirty="0">
              <a:solidFill>
                <a:srgbClr val="304543"/>
              </a:solidFill>
            </a:endParaRPr>
          </a:p>
        </p:txBody>
      </p:sp>
      <p:pic>
        <p:nvPicPr>
          <p:cNvPr id="55" name="Google Shape;55;p13"/>
          <p:cNvPicPr preferRelativeResize="0"/>
          <p:nvPr/>
        </p:nvPicPr>
        <p:blipFill>
          <a:blip r:embed="rId3">
            <a:alphaModFix/>
          </a:blip>
          <a:stretch>
            <a:fillRect/>
          </a:stretch>
        </p:blipFill>
        <p:spPr>
          <a:xfrm>
            <a:off x="963200" y="1393674"/>
            <a:ext cx="6365476" cy="2356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latin typeface="MS PGothic"/>
                <a:ea typeface="MS PGothic"/>
                <a:cs typeface="MS PGothic"/>
                <a:sym typeface="MS PGothic"/>
              </a:rPr>
              <a:t>芝浦市場の紹介 - 概要</a:t>
            </a:r>
            <a:endParaRPr>
              <a:latin typeface="MS PGothic"/>
              <a:ea typeface="MS PGothic"/>
              <a:cs typeface="MS PGothic"/>
              <a:sym typeface="MS PGothic"/>
            </a:endParaRPr>
          </a:p>
        </p:txBody>
      </p:sp>
      <p:sp>
        <p:nvSpPr>
          <p:cNvPr id="61" name="Google Shape;61;p14"/>
          <p:cNvSpPr txBox="1">
            <a:spLocks noGrp="1"/>
          </p:cNvSpPr>
          <p:nvPr>
            <p:ph type="body" idx="1"/>
          </p:nvPr>
        </p:nvSpPr>
        <p:spPr>
          <a:xfrm>
            <a:off x="311700" y="1152475"/>
            <a:ext cx="4321945" cy="1662644"/>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dirty="0">
                <a:solidFill>
                  <a:schemeClr val="dk1"/>
                </a:solidFill>
                <a:latin typeface="Meiryo"/>
                <a:ea typeface="Meiryo"/>
                <a:cs typeface="Meiryo"/>
                <a:sym typeface="Meiryo"/>
              </a:rPr>
              <a:t>ユーザ：芝浦工大生</a:t>
            </a:r>
            <a:endParaRPr dirty="0">
              <a:solidFill>
                <a:schemeClr val="dk1"/>
              </a:solidFill>
              <a:latin typeface="Meiryo"/>
              <a:ea typeface="Meiryo"/>
              <a:cs typeface="Meiryo"/>
              <a:sym typeface="Meiryo"/>
            </a:endParaRPr>
          </a:p>
          <a:p>
            <a:pPr marL="0" lvl="0" indent="0" algn="l" rtl="0">
              <a:spcBef>
                <a:spcPts val="1200"/>
              </a:spcBef>
              <a:spcAft>
                <a:spcPts val="0"/>
              </a:spcAft>
              <a:buNone/>
            </a:pPr>
            <a:r>
              <a:rPr lang="ja" dirty="0">
                <a:solidFill>
                  <a:schemeClr val="dk1"/>
                </a:solidFill>
                <a:latin typeface="Meiryo"/>
                <a:ea typeface="Meiryo"/>
                <a:cs typeface="Meiryo"/>
                <a:sym typeface="Meiryo"/>
              </a:rPr>
              <a:t>用途：学内で使えるフリーマーケット</a:t>
            </a:r>
            <a:endParaRPr dirty="0">
              <a:solidFill>
                <a:schemeClr val="dk1"/>
              </a:solidFill>
              <a:latin typeface="Meiryo"/>
              <a:ea typeface="Meiryo"/>
              <a:cs typeface="Meiryo"/>
              <a:sym typeface="Meiryo"/>
            </a:endParaRPr>
          </a:p>
          <a:p>
            <a:pPr marL="0" lvl="0" indent="0" algn="l" rtl="0">
              <a:spcBef>
                <a:spcPts val="1200"/>
              </a:spcBef>
              <a:spcAft>
                <a:spcPts val="1200"/>
              </a:spcAft>
              <a:buNone/>
            </a:pPr>
            <a:r>
              <a:rPr lang="ja" dirty="0">
                <a:solidFill>
                  <a:schemeClr val="dk1"/>
                </a:solidFill>
                <a:latin typeface="Meiryo"/>
                <a:ea typeface="Meiryo"/>
                <a:cs typeface="Meiryo"/>
                <a:sym typeface="Meiryo"/>
              </a:rPr>
              <a:t>システム構成：</a:t>
            </a:r>
            <a:endParaRPr dirty="0">
              <a:solidFill>
                <a:schemeClr val="dk1"/>
              </a:solidFill>
              <a:latin typeface="Meiryo"/>
              <a:ea typeface="Meiryo"/>
              <a:cs typeface="Meiryo"/>
              <a:sym typeface="Meiryo"/>
            </a:endParaRPr>
          </a:p>
        </p:txBody>
      </p:sp>
      <p:pic>
        <p:nvPicPr>
          <p:cNvPr id="62" name="Google Shape;62;p14"/>
          <p:cNvPicPr preferRelativeResize="0"/>
          <p:nvPr/>
        </p:nvPicPr>
        <p:blipFill>
          <a:blip r:embed="rId3">
            <a:alphaModFix/>
          </a:blip>
          <a:stretch>
            <a:fillRect/>
          </a:stretch>
        </p:blipFill>
        <p:spPr>
          <a:xfrm>
            <a:off x="1009750" y="3862675"/>
            <a:ext cx="4529248" cy="976750"/>
          </a:xfrm>
          <a:prstGeom prst="rect">
            <a:avLst/>
          </a:prstGeom>
          <a:noFill/>
          <a:ln>
            <a:noFill/>
          </a:ln>
        </p:spPr>
      </p:pic>
      <p:pic>
        <p:nvPicPr>
          <p:cNvPr id="63" name="Google Shape;63;p14"/>
          <p:cNvPicPr preferRelativeResize="0"/>
          <p:nvPr/>
        </p:nvPicPr>
        <p:blipFill>
          <a:blip r:embed="rId4">
            <a:alphaModFix/>
          </a:blip>
          <a:stretch>
            <a:fillRect/>
          </a:stretch>
        </p:blipFill>
        <p:spPr>
          <a:xfrm>
            <a:off x="5862081" y="2337650"/>
            <a:ext cx="2689725" cy="2664075"/>
          </a:xfrm>
          <a:prstGeom prst="rect">
            <a:avLst/>
          </a:prstGeom>
          <a:noFill/>
          <a:ln>
            <a:noFill/>
          </a:ln>
        </p:spPr>
      </p:pic>
      <p:pic>
        <p:nvPicPr>
          <p:cNvPr id="64" name="Google Shape;64;p14"/>
          <p:cNvPicPr preferRelativeResize="0"/>
          <p:nvPr/>
        </p:nvPicPr>
        <p:blipFill>
          <a:blip r:embed="rId5">
            <a:alphaModFix/>
          </a:blip>
          <a:stretch>
            <a:fillRect/>
          </a:stretch>
        </p:blipFill>
        <p:spPr>
          <a:xfrm>
            <a:off x="1983800" y="2228600"/>
            <a:ext cx="3498299" cy="1505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latin typeface="MS PGothic"/>
                <a:ea typeface="MS PGothic"/>
                <a:cs typeface="MS PGothic"/>
                <a:sym typeface="MS PGothic"/>
              </a:rPr>
              <a:t>芝浦市場の紹介 - 強み</a:t>
            </a:r>
            <a:endParaRPr>
              <a:latin typeface="MS PGothic"/>
              <a:ea typeface="MS PGothic"/>
              <a:cs typeface="MS PGothic"/>
              <a:sym typeface="MS PGothic"/>
            </a:endParaRPr>
          </a:p>
        </p:txBody>
      </p:sp>
      <p:sp>
        <p:nvSpPr>
          <p:cNvPr id="70" name="Google Shape;70;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ja">
                <a:solidFill>
                  <a:schemeClr val="dk1"/>
                </a:solidFill>
                <a:latin typeface="Meiryo"/>
                <a:ea typeface="Meiryo"/>
                <a:cs typeface="Meiryo"/>
                <a:sym typeface="Meiryo"/>
              </a:rPr>
              <a:t>・学内向けサービスのため，直接受け渡し</a:t>
            </a:r>
            <a:endParaRPr>
              <a:solidFill>
                <a:schemeClr val="dk1"/>
              </a:solidFill>
              <a:latin typeface="Meiryo"/>
              <a:ea typeface="Meiryo"/>
              <a:cs typeface="Meiryo"/>
              <a:sym typeface="Meiryo"/>
            </a:endParaRPr>
          </a:p>
          <a:p>
            <a:pPr marL="0" lvl="0" indent="0" algn="l" rtl="0">
              <a:spcBef>
                <a:spcPts val="1200"/>
              </a:spcBef>
              <a:spcAft>
                <a:spcPts val="0"/>
              </a:spcAft>
              <a:buNone/>
            </a:pPr>
            <a:r>
              <a:rPr lang="ja">
                <a:solidFill>
                  <a:schemeClr val="dk1"/>
                </a:solidFill>
                <a:latin typeface="Meiryo"/>
                <a:ea typeface="Meiryo"/>
                <a:cs typeface="Meiryo"/>
                <a:sym typeface="Meiryo"/>
              </a:rPr>
              <a:t>　→ セキュリティ面は安心</a:t>
            </a:r>
            <a:endParaRPr>
              <a:solidFill>
                <a:schemeClr val="dk1"/>
              </a:solidFill>
              <a:latin typeface="Meiryo"/>
              <a:ea typeface="Meiryo"/>
              <a:cs typeface="Meiryo"/>
              <a:sym typeface="Meiryo"/>
            </a:endParaRPr>
          </a:p>
          <a:p>
            <a:pPr marL="0" lvl="0" indent="0" algn="l" rtl="0">
              <a:spcBef>
                <a:spcPts val="1200"/>
              </a:spcBef>
              <a:spcAft>
                <a:spcPts val="0"/>
              </a:spcAft>
              <a:buNone/>
            </a:pPr>
            <a:endParaRPr>
              <a:solidFill>
                <a:schemeClr val="dk1"/>
              </a:solidFill>
              <a:latin typeface="Meiryo"/>
              <a:ea typeface="Meiryo"/>
              <a:cs typeface="Meiryo"/>
              <a:sym typeface="Meiryo"/>
            </a:endParaRPr>
          </a:p>
          <a:p>
            <a:pPr marL="0" lvl="0" indent="0" algn="l" rtl="0">
              <a:spcBef>
                <a:spcPts val="1200"/>
              </a:spcBef>
              <a:spcAft>
                <a:spcPts val="0"/>
              </a:spcAft>
              <a:buNone/>
            </a:pPr>
            <a:r>
              <a:rPr lang="ja">
                <a:solidFill>
                  <a:schemeClr val="dk1"/>
                </a:solidFill>
                <a:latin typeface="Meiryo"/>
                <a:ea typeface="Meiryo"/>
                <a:cs typeface="Meiryo"/>
                <a:sym typeface="Meiryo"/>
              </a:rPr>
              <a:t>・Scombの時間割をもとに教科書をサジェスト可能</a:t>
            </a:r>
            <a:endParaRPr>
              <a:solidFill>
                <a:schemeClr val="dk1"/>
              </a:solidFill>
              <a:latin typeface="Meiryo"/>
              <a:ea typeface="Meiryo"/>
              <a:cs typeface="Meiryo"/>
              <a:sym typeface="Meiryo"/>
            </a:endParaRPr>
          </a:p>
          <a:p>
            <a:pPr marL="0" lvl="0" indent="0" algn="l" rtl="0">
              <a:spcBef>
                <a:spcPts val="1200"/>
              </a:spcBef>
              <a:spcAft>
                <a:spcPts val="0"/>
              </a:spcAft>
              <a:buNone/>
            </a:pPr>
            <a:endParaRPr>
              <a:solidFill>
                <a:schemeClr val="dk1"/>
              </a:solidFill>
              <a:latin typeface="Meiryo"/>
              <a:ea typeface="Meiryo"/>
              <a:cs typeface="Meiryo"/>
              <a:sym typeface="Meiryo"/>
            </a:endParaRPr>
          </a:p>
          <a:p>
            <a:pPr marL="0" lvl="0" indent="0" algn="l" rtl="0">
              <a:spcBef>
                <a:spcPts val="1200"/>
              </a:spcBef>
              <a:spcAft>
                <a:spcPts val="1200"/>
              </a:spcAft>
              <a:buNone/>
            </a:pPr>
            <a:r>
              <a:rPr lang="ja">
                <a:solidFill>
                  <a:schemeClr val="dk1"/>
                </a:solidFill>
                <a:latin typeface="Meiryo"/>
                <a:ea typeface="Meiryo"/>
                <a:cs typeface="Meiryo"/>
                <a:sym typeface="Meiryo"/>
              </a:rPr>
              <a:t>・支払方法を各自で決定可能</a:t>
            </a:r>
            <a:endParaRPr>
              <a:solidFill>
                <a:schemeClr val="dk1"/>
              </a:solidFill>
              <a:latin typeface="Meiryo"/>
              <a:ea typeface="Meiryo"/>
              <a:cs typeface="Meiryo"/>
              <a:sym typeface="Meiry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dirty="0">
                <a:latin typeface="MS PGothic"/>
                <a:ea typeface="MS PGothic"/>
                <a:cs typeface="MS PGothic"/>
                <a:sym typeface="MS PGothic"/>
              </a:rPr>
              <a:t>芝浦市場の紹介 - デモ動画</a:t>
            </a:r>
            <a:endParaRPr dirty="0">
              <a:latin typeface="MS PGothic"/>
              <a:ea typeface="MS PGothic"/>
              <a:cs typeface="MS PGothic"/>
              <a:sym typeface="MS PGothic"/>
            </a:endParaRPr>
          </a:p>
        </p:txBody>
      </p:sp>
      <p:pic>
        <p:nvPicPr>
          <p:cNvPr id="2" name="explain_shibaura-ichiba">
            <a:hlinkClick r:id="" action="ppaction://media"/>
            <a:extLst>
              <a:ext uri="{FF2B5EF4-FFF2-40B4-BE49-F238E27FC236}">
                <a16:creationId xmlns:a16="http://schemas.microsoft.com/office/drawing/2014/main" id="{214D900E-AE9E-722C-2886-FC76C0EC63C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92999" y="1098410"/>
            <a:ext cx="6958002" cy="39138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39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latin typeface="MS PGothic"/>
                <a:ea typeface="MS PGothic"/>
                <a:cs typeface="MS PGothic"/>
                <a:sym typeface="MS PGothic"/>
              </a:rPr>
              <a:t>芝浦市場開発実績の報告 - 概要</a:t>
            </a:r>
            <a:endParaRPr>
              <a:latin typeface="MS PGothic"/>
              <a:ea typeface="MS PGothic"/>
              <a:cs typeface="MS PGothic"/>
              <a:sym typeface="MS PGothic"/>
            </a:endParaRPr>
          </a:p>
        </p:txBody>
      </p:sp>
      <p:sp>
        <p:nvSpPr>
          <p:cNvPr id="82" name="Google Shape;82;p17"/>
          <p:cNvSpPr txBox="1">
            <a:spLocks noGrp="1"/>
          </p:cNvSpPr>
          <p:nvPr>
            <p:ph type="body" idx="1"/>
          </p:nvPr>
        </p:nvSpPr>
        <p:spPr>
          <a:xfrm>
            <a:off x="311700" y="1017725"/>
            <a:ext cx="8520600" cy="13569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688"/>
              <a:buNone/>
            </a:pPr>
            <a:r>
              <a:rPr lang="ja" sz="1525">
                <a:solidFill>
                  <a:schemeClr val="dk1"/>
                </a:solidFill>
                <a:latin typeface="Meiryo"/>
                <a:ea typeface="Meiryo"/>
                <a:cs typeface="Meiryo"/>
                <a:sym typeface="Meiryo"/>
              </a:rPr>
              <a:t>開発言語：JavaScript</a:t>
            </a:r>
            <a:endParaRPr sz="1525">
              <a:solidFill>
                <a:schemeClr val="dk1"/>
              </a:solidFill>
              <a:latin typeface="Meiryo"/>
              <a:ea typeface="Meiryo"/>
              <a:cs typeface="Meiryo"/>
              <a:sym typeface="Meiryo"/>
            </a:endParaRPr>
          </a:p>
          <a:p>
            <a:pPr marL="0" lvl="0" indent="0" algn="l" rtl="0">
              <a:lnSpc>
                <a:spcPct val="105000"/>
              </a:lnSpc>
              <a:spcBef>
                <a:spcPts val="1200"/>
              </a:spcBef>
              <a:spcAft>
                <a:spcPts val="0"/>
              </a:spcAft>
              <a:buSzPts val="688"/>
              <a:buNone/>
            </a:pPr>
            <a:r>
              <a:rPr lang="ja" sz="1525">
                <a:solidFill>
                  <a:schemeClr val="dk1"/>
                </a:solidFill>
                <a:latin typeface="Meiryo"/>
                <a:ea typeface="Meiryo"/>
                <a:cs typeface="Meiryo"/>
                <a:sym typeface="Meiryo"/>
              </a:rPr>
              <a:t>実行環境：Node.js</a:t>
            </a:r>
            <a:endParaRPr sz="1525">
              <a:solidFill>
                <a:schemeClr val="dk1"/>
              </a:solidFill>
              <a:latin typeface="Meiryo"/>
              <a:ea typeface="Meiryo"/>
              <a:cs typeface="Meiryo"/>
              <a:sym typeface="Meiryo"/>
            </a:endParaRPr>
          </a:p>
          <a:p>
            <a:pPr marL="0" lvl="0" indent="0" algn="l" rtl="0">
              <a:lnSpc>
                <a:spcPct val="105000"/>
              </a:lnSpc>
              <a:spcBef>
                <a:spcPts val="1200"/>
              </a:spcBef>
              <a:spcAft>
                <a:spcPts val="0"/>
              </a:spcAft>
              <a:buSzPts val="688"/>
              <a:buNone/>
            </a:pPr>
            <a:r>
              <a:rPr lang="ja" sz="1525">
                <a:solidFill>
                  <a:schemeClr val="dk1"/>
                </a:solidFill>
                <a:latin typeface="Meiryo"/>
                <a:ea typeface="Meiryo"/>
                <a:cs typeface="Meiryo"/>
                <a:sym typeface="Meiryo"/>
              </a:rPr>
              <a:t>フレームワーク：Express.js，Vue.js</a:t>
            </a:r>
            <a:endParaRPr sz="1525">
              <a:solidFill>
                <a:schemeClr val="dk1"/>
              </a:solidFill>
              <a:latin typeface="Meiryo"/>
              <a:ea typeface="Meiryo"/>
              <a:cs typeface="Meiryo"/>
              <a:sym typeface="Meiryo"/>
            </a:endParaRPr>
          </a:p>
          <a:p>
            <a:pPr marL="0" lvl="0" indent="0" algn="l" rtl="0">
              <a:lnSpc>
                <a:spcPct val="105000"/>
              </a:lnSpc>
              <a:spcBef>
                <a:spcPts val="1200"/>
              </a:spcBef>
              <a:spcAft>
                <a:spcPts val="1200"/>
              </a:spcAft>
              <a:buSzPts val="688"/>
              <a:buNone/>
            </a:pPr>
            <a:r>
              <a:rPr lang="ja" sz="1525">
                <a:solidFill>
                  <a:schemeClr val="dk1"/>
                </a:solidFill>
                <a:latin typeface="Meiryo"/>
                <a:ea typeface="Meiryo"/>
                <a:cs typeface="Meiryo"/>
                <a:sym typeface="Meiryo"/>
              </a:rPr>
              <a:t>開発規模：約4500行</a:t>
            </a:r>
            <a:endParaRPr sz="1525">
              <a:solidFill>
                <a:schemeClr val="dk1"/>
              </a:solidFill>
              <a:latin typeface="Meiryo"/>
              <a:ea typeface="Meiryo"/>
              <a:cs typeface="Meiryo"/>
              <a:sym typeface="Meiryo"/>
            </a:endParaRPr>
          </a:p>
        </p:txBody>
      </p:sp>
      <p:pic>
        <p:nvPicPr>
          <p:cNvPr id="83" name="Google Shape;83;p17"/>
          <p:cNvPicPr preferRelativeResize="0"/>
          <p:nvPr/>
        </p:nvPicPr>
        <p:blipFill>
          <a:blip r:embed="rId3">
            <a:alphaModFix/>
          </a:blip>
          <a:stretch>
            <a:fillRect/>
          </a:stretch>
        </p:blipFill>
        <p:spPr>
          <a:xfrm>
            <a:off x="1343500" y="2637800"/>
            <a:ext cx="6456988" cy="24640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latin typeface="MS PGothic"/>
                <a:ea typeface="MS PGothic"/>
                <a:cs typeface="MS PGothic"/>
                <a:sym typeface="MS PGothic"/>
              </a:rPr>
              <a:t>芝浦市場開発実績の報告 - テスト結果</a:t>
            </a:r>
            <a:endParaRPr>
              <a:latin typeface="MS PGothic"/>
              <a:ea typeface="MS PGothic"/>
              <a:cs typeface="MS PGothic"/>
              <a:sym typeface="MS PGothic"/>
            </a:endParaRPr>
          </a:p>
        </p:txBody>
      </p:sp>
      <p:pic>
        <p:nvPicPr>
          <p:cNvPr id="89" name="Google Shape;89;p18"/>
          <p:cNvPicPr preferRelativeResize="0"/>
          <p:nvPr/>
        </p:nvPicPr>
        <p:blipFill>
          <a:blip r:embed="rId3">
            <a:alphaModFix/>
          </a:blip>
          <a:stretch>
            <a:fillRect/>
          </a:stretch>
        </p:blipFill>
        <p:spPr>
          <a:xfrm>
            <a:off x="556150" y="1511775"/>
            <a:ext cx="8031676" cy="2738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ja">
                <a:latin typeface="MS PGothic"/>
                <a:ea typeface="MS PGothic"/>
                <a:cs typeface="MS PGothic"/>
                <a:sym typeface="MS PGothic"/>
              </a:rPr>
              <a:t>苦労した点・感想</a:t>
            </a:r>
            <a:endParaRPr>
              <a:latin typeface="MS PGothic"/>
              <a:ea typeface="MS PGothic"/>
              <a:cs typeface="MS PGothic"/>
              <a:sym typeface="MS PGothic"/>
            </a:endParaRPr>
          </a:p>
        </p:txBody>
      </p:sp>
      <p:sp>
        <p:nvSpPr>
          <p:cNvPr id="95" name="Google Shape;95;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ja" dirty="0">
                <a:solidFill>
                  <a:schemeClr val="dk1"/>
                </a:solidFill>
                <a:latin typeface="Meiryo"/>
                <a:ea typeface="Meiryo"/>
                <a:cs typeface="Meiryo"/>
                <a:sym typeface="Meiryo"/>
              </a:rPr>
              <a:t>・結合テストで正常に動くように修正することが一番苦労した</a:t>
            </a:r>
            <a:r>
              <a:rPr lang="ja-JP" altLang="en-US" dirty="0">
                <a:solidFill>
                  <a:schemeClr val="dk1"/>
                </a:solidFill>
                <a:latin typeface="Meiryo"/>
                <a:ea typeface="Meiryo"/>
                <a:cs typeface="Meiryo"/>
                <a:sym typeface="Meiryo"/>
              </a:rPr>
              <a:t>（</a:t>
            </a:r>
            <a:r>
              <a:rPr lang="en-US" altLang="ja-JP" dirty="0">
                <a:solidFill>
                  <a:schemeClr val="dk1"/>
                </a:solidFill>
                <a:latin typeface="Meiryo"/>
                <a:ea typeface="Meiryo"/>
                <a:cs typeface="Meiryo"/>
                <a:sym typeface="Meiryo"/>
              </a:rPr>
              <a:t>masked</a:t>
            </a:r>
            <a:r>
              <a:rPr lang="ja-JP" altLang="en-US" dirty="0">
                <a:solidFill>
                  <a:schemeClr val="dk1"/>
                </a:solidFill>
                <a:latin typeface="Meiryo"/>
                <a:ea typeface="Meiryo"/>
                <a:cs typeface="Meiryo"/>
                <a:sym typeface="Meiryo"/>
              </a:rPr>
              <a:t>）</a:t>
            </a:r>
            <a:endParaRPr dirty="0">
              <a:solidFill>
                <a:schemeClr val="dk1"/>
              </a:solidFill>
              <a:latin typeface="Meiryo"/>
              <a:ea typeface="Meiryo"/>
              <a:cs typeface="Meiryo"/>
              <a:sym typeface="Meiryo"/>
            </a:endParaRPr>
          </a:p>
          <a:p>
            <a:pPr marL="0" lvl="0" indent="0" algn="l" rtl="0">
              <a:spcBef>
                <a:spcPts val="1200"/>
              </a:spcBef>
              <a:spcAft>
                <a:spcPts val="0"/>
              </a:spcAft>
              <a:buNone/>
            </a:pPr>
            <a:r>
              <a:rPr lang="ja" dirty="0">
                <a:solidFill>
                  <a:schemeClr val="dk1"/>
                </a:solidFill>
                <a:latin typeface="Meiryo"/>
                <a:ea typeface="Meiryo"/>
                <a:cs typeface="Meiryo"/>
                <a:sym typeface="Meiryo"/>
              </a:rPr>
              <a:t>・渡されるはずの値が渡ってなかったり、逆に渡せてなかったり</a:t>
            </a:r>
            <a:r>
              <a:rPr lang="en-US" altLang="ja" dirty="0">
                <a:solidFill>
                  <a:schemeClr val="dk1"/>
                </a:solidFill>
                <a:latin typeface="Meiryo"/>
                <a:ea typeface="Meiryo"/>
                <a:cs typeface="Meiryo"/>
                <a:sym typeface="Meiryo"/>
              </a:rPr>
              <a:t>(masked)</a:t>
            </a:r>
            <a:endParaRPr dirty="0">
              <a:solidFill>
                <a:schemeClr val="dk1"/>
              </a:solidFill>
              <a:latin typeface="Meiryo"/>
              <a:ea typeface="Meiryo"/>
              <a:cs typeface="Meiryo"/>
              <a:sym typeface="Meiryo"/>
            </a:endParaRPr>
          </a:p>
          <a:p>
            <a:pPr marL="0" lvl="0" indent="0" algn="l" rtl="0">
              <a:spcBef>
                <a:spcPts val="1200"/>
              </a:spcBef>
              <a:spcAft>
                <a:spcPts val="0"/>
              </a:spcAft>
              <a:buNone/>
            </a:pPr>
            <a:r>
              <a:rPr lang="ja" dirty="0">
                <a:solidFill>
                  <a:schemeClr val="dk1"/>
                </a:solidFill>
                <a:latin typeface="Meiryo"/>
                <a:ea typeface="Meiryo"/>
                <a:cs typeface="Meiryo"/>
                <a:sym typeface="Meiryo"/>
              </a:rPr>
              <a:t>・複数人で開発することが初めてだったので、全員で設計したものがちゃんと仕様通りに動いたときは達成感や感動があった</a:t>
            </a:r>
            <a:r>
              <a:rPr lang="ja-JP" altLang="en-US" dirty="0">
                <a:solidFill>
                  <a:schemeClr val="dk1"/>
                </a:solidFill>
                <a:latin typeface="Meiryo"/>
                <a:ea typeface="Meiryo"/>
                <a:cs typeface="Meiryo"/>
                <a:sym typeface="Meiryo"/>
              </a:rPr>
              <a:t>（</a:t>
            </a:r>
            <a:r>
              <a:rPr lang="en-US" altLang="ja-JP" dirty="0">
                <a:solidFill>
                  <a:schemeClr val="dk1"/>
                </a:solidFill>
                <a:latin typeface="Meiryo"/>
                <a:ea typeface="Meiryo"/>
                <a:cs typeface="Meiryo"/>
                <a:sym typeface="Meiryo"/>
              </a:rPr>
              <a:t>masked</a:t>
            </a:r>
            <a:r>
              <a:rPr lang="ja-JP" altLang="en-US" dirty="0">
                <a:solidFill>
                  <a:schemeClr val="dk1"/>
                </a:solidFill>
                <a:latin typeface="Meiryo"/>
                <a:ea typeface="Meiryo"/>
                <a:cs typeface="Meiryo"/>
                <a:sym typeface="Meiryo"/>
              </a:rPr>
              <a:t>）</a:t>
            </a:r>
            <a:endParaRPr dirty="0">
              <a:solidFill>
                <a:schemeClr val="dk1"/>
              </a:solidFill>
              <a:latin typeface="Meiryo"/>
              <a:ea typeface="Meiryo"/>
              <a:cs typeface="Meiryo"/>
              <a:sym typeface="Meiryo"/>
            </a:endParaRPr>
          </a:p>
          <a:p>
            <a:pPr marL="0" lvl="0" indent="0" algn="l" rtl="0">
              <a:spcBef>
                <a:spcPts val="1200"/>
              </a:spcBef>
              <a:spcAft>
                <a:spcPts val="0"/>
              </a:spcAft>
              <a:buNone/>
            </a:pPr>
            <a:r>
              <a:rPr lang="ja" dirty="0">
                <a:solidFill>
                  <a:schemeClr val="dk1"/>
                </a:solidFill>
                <a:latin typeface="Meiryo"/>
                <a:ea typeface="Meiryo"/>
                <a:cs typeface="Meiryo"/>
                <a:sym typeface="Meiryo"/>
              </a:rPr>
              <a:t>・開発方針を決定するとき，ユーザビリティだけでなく，メンバーの技術力と開発時間を考慮して決定することが難しかった．他にも，スケジュール管理や，相談の対応や成果物のとりまとめなど，対人的なことに苦労をした．（小島）</a:t>
            </a:r>
            <a:endParaRPr dirty="0">
              <a:solidFill>
                <a:schemeClr val="dk1"/>
              </a:solidFill>
              <a:latin typeface="Meiryo"/>
              <a:ea typeface="Meiryo"/>
              <a:cs typeface="Meiryo"/>
              <a:sym typeface="Meiryo"/>
            </a:endParaRPr>
          </a:p>
          <a:p>
            <a:pPr marL="0" indent="0">
              <a:spcBef>
                <a:spcPts val="1200"/>
              </a:spcBef>
              <a:spcAft>
                <a:spcPts val="1200"/>
              </a:spcAft>
              <a:buNone/>
            </a:pPr>
            <a:r>
              <a:rPr lang="ja" dirty="0">
                <a:solidFill>
                  <a:schemeClr val="dk1"/>
                </a:solidFill>
                <a:latin typeface="Meiryo"/>
                <a:ea typeface="Meiryo"/>
                <a:cs typeface="Meiryo"/>
                <a:sym typeface="Meiryo"/>
              </a:rPr>
              <a:t>・サーバーの部分に触れるのが初めてだったので、そこが難しかった</a:t>
            </a:r>
            <a:r>
              <a:rPr lang="ja-JP" altLang="en-US" dirty="0">
                <a:solidFill>
                  <a:schemeClr val="dk1"/>
                </a:solidFill>
                <a:latin typeface="Meiryo"/>
                <a:ea typeface="Meiryo"/>
                <a:cs typeface="Meiryo"/>
                <a:sym typeface="Meiryo"/>
              </a:rPr>
              <a:t>（</a:t>
            </a:r>
            <a:r>
              <a:rPr lang="en-US" altLang="ja-JP" dirty="0">
                <a:solidFill>
                  <a:schemeClr val="dk1"/>
                </a:solidFill>
                <a:latin typeface="Meiryo"/>
                <a:ea typeface="Meiryo"/>
                <a:cs typeface="Meiryo"/>
                <a:sym typeface="Meiryo"/>
              </a:rPr>
              <a:t>masked</a:t>
            </a:r>
            <a:r>
              <a:rPr lang="ja-JP" altLang="en-US" dirty="0">
                <a:solidFill>
                  <a:schemeClr val="dk1"/>
                </a:solidFill>
                <a:latin typeface="Meiryo"/>
                <a:ea typeface="Meiryo"/>
                <a:cs typeface="Meiryo"/>
                <a:sym typeface="Meiryo"/>
              </a:rPr>
              <a:t>）</a:t>
            </a:r>
          </a:p>
          <a:p>
            <a:pPr marL="0" lvl="0" indent="0" algn="l" rtl="0">
              <a:spcBef>
                <a:spcPts val="1200"/>
              </a:spcBef>
              <a:spcAft>
                <a:spcPts val="1200"/>
              </a:spcAft>
              <a:buNone/>
            </a:pPr>
            <a:endParaRPr dirty="0">
              <a:solidFill>
                <a:schemeClr val="dk1"/>
              </a:solidFill>
              <a:latin typeface="Meiryo"/>
              <a:ea typeface="Meiryo"/>
              <a:cs typeface="Meiryo"/>
              <a:sym typeface="Meiry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269</Words>
  <Application>Microsoft Office PowerPoint</Application>
  <PresentationFormat>画面に合わせる (16:9)</PresentationFormat>
  <Paragraphs>31</Paragraphs>
  <Slides>7</Slides>
  <Notes>7</Notes>
  <HiddenSlides>0</HiddenSlides>
  <MMClips>1</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MS PGothic</vt:lpstr>
      <vt:lpstr>Meiryo</vt:lpstr>
      <vt:lpstr>Arial</vt:lpstr>
      <vt:lpstr>Simple Light</vt:lpstr>
      <vt:lpstr>PowerPoint プレゼンテーション</vt:lpstr>
      <vt:lpstr>芝浦市場の紹介 - 概要</vt:lpstr>
      <vt:lpstr>芝浦市場の紹介 - 強み</vt:lpstr>
      <vt:lpstr>芝浦市場の紹介 - デモ動画</vt:lpstr>
      <vt:lpstr>芝浦市場開発実績の報告 - 概要</vt:lpstr>
      <vt:lpstr>芝浦市場開発実績の報告 - テスト結果</vt:lpstr>
      <vt:lpstr>苦労した点・感想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佑太 小島</cp:lastModifiedBy>
  <cp:revision>9</cp:revision>
  <dcterms:modified xsi:type="dcterms:W3CDTF">2026-06-20T18:49:28Z</dcterms:modified>
</cp:coreProperties>
</file>